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3"/>
  </p:notesMasterIdLst>
  <p:handoutMasterIdLst>
    <p:handoutMasterId r:id="rId14"/>
  </p:handoutMasterIdLst>
  <p:sldIdLst>
    <p:sldId id="256" r:id="rId2"/>
    <p:sldId id="289" r:id="rId3"/>
    <p:sldId id="290" r:id="rId4"/>
    <p:sldId id="296" r:id="rId5"/>
    <p:sldId id="375" r:id="rId6"/>
    <p:sldId id="376" r:id="rId7"/>
    <p:sldId id="377" r:id="rId8"/>
    <p:sldId id="388" r:id="rId9"/>
    <p:sldId id="380" r:id="rId10"/>
    <p:sldId id="381" r:id="rId11"/>
    <p:sldId id="288" r:id="rId12"/>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11EF32-638D-491A-9A9B-2277597E6F44}" v="4" dt="2026-10-21T19:24:11.97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38" autoAdjust="0"/>
    <p:restoredTop sz="95033" autoAdjust="0"/>
  </p:normalViewPr>
  <p:slideViewPr>
    <p:cSldViewPr>
      <p:cViewPr varScale="1">
        <p:scale>
          <a:sx n="79" d="100"/>
          <a:sy n="79" d="100"/>
        </p:scale>
        <p:origin x="1210" y="7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an Camilo Cano Vasquez" userId="8c73a2a4-758b-4e34-81ed-39462e48bd92" providerId="ADAL" clId="{E6287060-0277-4BCC-9556-78F4A9113EC4}"/>
    <pc:docChg chg="modSld">
      <pc:chgData name="Christian Camilo Cano Vasquez" userId="8c73a2a4-758b-4e34-81ed-39462e48bd92" providerId="ADAL" clId="{E6287060-0277-4BCC-9556-78F4A9113EC4}" dt="2026-10-21T19:24:13.887" v="3"/>
      <pc:docMkLst>
        <pc:docMk/>
      </pc:docMkLst>
      <pc:sldChg chg="addSp delSp modSp">
        <pc:chgData name="Christian Camilo Cano Vasquez" userId="8c73a2a4-758b-4e34-81ed-39462e48bd92" providerId="ADAL" clId="{E6287060-0277-4BCC-9556-78F4A9113EC4}" dt="2026-10-21T19:24:13.887" v="3"/>
        <pc:sldMkLst>
          <pc:docMk/>
          <pc:sldMk cId="560234623" sldId="289"/>
        </pc:sldMkLst>
        <pc:spChg chg="mod">
          <ac:chgData name="Christian Camilo Cano Vasquez" userId="8c73a2a4-758b-4e34-81ed-39462e48bd92" providerId="ADAL" clId="{E6287060-0277-4BCC-9556-78F4A9113EC4}" dt="2026-10-21T19:23:50.050" v="2"/>
          <ac:spMkLst>
            <pc:docMk/>
            <pc:sldMk cId="560234623" sldId="289"/>
            <ac:spMk id="4" creationId="{9F7BC140-B3D8-C3CB-55AD-9064C7CDE9CA}"/>
          </ac:spMkLst>
        </pc:spChg>
        <pc:spChg chg="add del mod">
          <ac:chgData name="Christian Camilo Cano Vasquez" userId="8c73a2a4-758b-4e34-81ed-39462e48bd92" providerId="ADAL" clId="{E6287060-0277-4BCC-9556-78F4A9113EC4}" dt="2026-10-21T19:24:13.887" v="3"/>
          <ac:spMkLst>
            <pc:docMk/>
            <pc:sldMk cId="560234623" sldId="289"/>
            <ac:spMk id="5" creationId="{EFC8D16C-5946-17C2-0C12-AC4F9B7138E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21/10/2026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21/10/2026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DCA2C-DC1C-94AC-4B44-E792E81057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DDFC22-9D5D-07E4-D6DC-4D9F86CC1C7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FDA27A-7867-5B97-DBC7-5AFE21A3C8C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3521375-3405-AFF1-9827-86123C005F32}"/>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3574884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3.0 CIRCUITS &amp; COMPACT MODELS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dirty="0"/>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dirty="0"/>
              <a:t>Texto del contenido</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dirty="0"/>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dirty="0"/>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3.0 CIRCUITS &amp; COMPACT MODELS</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‹Nº›</a:t>
            </a:fld>
            <a:endParaRPr lang="en-US" dirty="0"/>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0.3. Circuits and Compact </a:t>
            </a:r>
            <a:r>
              <a:rPr lang="es-ES" sz="3200" b="1" dirty="0" err="1">
                <a:latin typeface="Lucida Sans"/>
                <a:cs typeface="Lucida Sans"/>
              </a:rPr>
              <a:t>Models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dirty="0"/>
              <a:t>LAB 3.0 CIRCUITS &amp; COMPACT MODELS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Go to the repo: https://github.com/cccanvas-upv/ipsp-lab3.git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On the terminal: </a:t>
            </a:r>
            <a:r>
              <a:rPr lang="en-US" b="1" kern="0" dirty="0" err="1">
                <a:solidFill>
                  <a:sysClr val="windowText" lastClr="000000"/>
                </a:solidFill>
                <a:latin typeface="Consolas" panose="020B0609020204030204" pitchFamily="49" charset="0"/>
                <a:sym typeface="Wingdings" pitchFamily="2" charset="2"/>
              </a:rPr>
              <a:t>uv</a:t>
            </a:r>
            <a:r>
              <a:rPr lang="en-US" b="1" kern="0" dirty="0">
                <a:solidFill>
                  <a:sysClr val="windowText" lastClr="000000"/>
                </a:solidFill>
                <a:latin typeface="Consolas" panose="020B0609020204030204" pitchFamily="49" charset="0"/>
                <a:sym typeface="Wingdings" pitchFamily="2" charset="2"/>
              </a:rPr>
              <a:t> sync</a:t>
            </a:r>
          </a:p>
          <a:p>
            <a:pPr marL="342900" indent="-342900" algn="just">
              <a:buFont typeface="Arial" panose="020B0604020202020204" pitchFamily="34" charset="0"/>
              <a:buChar char="•"/>
            </a:pPr>
            <a:r>
              <a:rPr lang="en-US" kern="0" dirty="0">
                <a:solidFill>
                  <a:sysClr val="windowText" lastClr="000000"/>
                </a:solidFill>
              </a:rPr>
              <a:t>Run the Jupyter Notebook: </a:t>
            </a:r>
          </a:p>
          <a:p>
            <a:pPr marL="800100" lvl="1" indent="-342900" algn="just">
              <a:buFont typeface="Arial" panose="020B0604020202020204" pitchFamily="34" charset="0"/>
              <a:buChar char="•"/>
            </a:pPr>
            <a:r>
              <a:rPr lang="en-US" kern="0" dirty="0">
                <a:solidFill>
                  <a:sysClr val="windowText" lastClr="000000"/>
                </a:solidFill>
              </a:rPr>
              <a:t>30_Circuits_&amp;_CompactModels_STUDENT.ipynb </a:t>
            </a:r>
          </a:p>
          <a:p>
            <a:pPr algn="just"/>
            <a:endParaRPr lang="en-US" b="1" i="1" u="sng" dirty="0"/>
          </a:p>
          <a:p>
            <a:pPr algn="just"/>
            <a:r>
              <a:rPr lang="en-US" b="1" i="1" dirty="0"/>
              <a:t>Devices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8077200" y="5582965"/>
            <a:ext cx="2176237" cy="369332"/>
          </a:xfrm>
          <a:prstGeom prst="rect">
            <a:avLst/>
          </a:prstGeom>
          <a:noFill/>
        </p:spPr>
        <p:txBody>
          <a:bodyPr wrap="none" rtlCol="0">
            <a:spAutoFit/>
          </a:bodyPr>
          <a:lstStyle/>
          <a:p>
            <a:pPr algn="r"/>
            <a:r>
              <a:rPr lang="en-US" b="1" dirty="0"/>
              <a:t>Ring Resonators (RR)</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039582" y="5579058"/>
            <a:ext cx="4176324" cy="369332"/>
          </a:xfrm>
          <a:prstGeom prst="rect">
            <a:avLst/>
          </a:prstGeom>
          <a:noFill/>
        </p:spPr>
        <p:txBody>
          <a:bodyPr wrap="square">
            <a:spAutoFit/>
          </a:bodyPr>
          <a:lstStyle/>
          <a:p>
            <a:pPr algn="ctr"/>
            <a:r>
              <a:rPr lang="en-US" b="1" dirty="0"/>
              <a:t>Mach-Zehnder Interferometer (MZI)</a:t>
            </a:r>
            <a:endParaRPr lang="en-US" dirty="0"/>
          </a:p>
        </p:txBody>
      </p:sp>
      <p:pic>
        <p:nvPicPr>
          <p:cNvPr id="6" name="Imagen 5" descr="Forma, Rectángulo&#10;&#10;El contenido generado por IA puede ser incorrecto.">
            <a:extLst>
              <a:ext uri="{FF2B5EF4-FFF2-40B4-BE49-F238E27FC236}">
                <a16:creationId xmlns:a16="http://schemas.microsoft.com/office/drawing/2014/main" id="{91C2AB39-AF40-7700-840D-38F2C1813C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428" y="3996612"/>
            <a:ext cx="5240632" cy="1246789"/>
          </a:xfrm>
          <a:prstGeom prst="rect">
            <a:avLst/>
          </a:prstGeom>
        </p:spPr>
      </p:pic>
      <p:pic>
        <p:nvPicPr>
          <p:cNvPr id="14" name="Imagen 13" descr="Imagen que contiene Forma&#10;&#10;El contenido generado por IA puede ser incorrecto.">
            <a:extLst>
              <a:ext uri="{FF2B5EF4-FFF2-40B4-BE49-F238E27FC236}">
                <a16:creationId xmlns:a16="http://schemas.microsoft.com/office/drawing/2014/main" id="{43CD26B4-EB7C-61CA-1BCF-B2AD5F6ED004}"/>
              </a:ext>
            </a:extLst>
          </p:cNvPr>
          <p:cNvPicPr>
            <a:picLocks noChangeAspect="1"/>
          </p:cNvPicPr>
          <p:nvPr/>
        </p:nvPicPr>
        <p:blipFill>
          <a:blip r:embed="rId4" cstate="print">
            <a:extLst>
              <a:ext uri="{28A0092B-C50C-407E-A947-70E740481C1C}">
                <a14:useLocalDpi xmlns:a14="http://schemas.microsoft.com/office/drawing/2010/main" val="0"/>
              </a:ext>
            </a:extLst>
          </a:blip>
          <a:srcRect r="68044"/>
          <a:stretch>
            <a:fillRect/>
          </a:stretch>
        </p:blipFill>
        <p:spPr>
          <a:xfrm>
            <a:off x="6624590" y="3638327"/>
            <a:ext cx="2402774" cy="1900395"/>
          </a:xfrm>
          <a:prstGeom prst="rect">
            <a:avLst/>
          </a:prstGeom>
        </p:spPr>
      </p:pic>
      <p:pic>
        <p:nvPicPr>
          <p:cNvPr id="15" name="Imagen 14" descr="Imagen que contiene Forma&#10;&#10;El contenido generado por IA puede ser incorrecto.">
            <a:extLst>
              <a:ext uri="{FF2B5EF4-FFF2-40B4-BE49-F238E27FC236}">
                <a16:creationId xmlns:a16="http://schemas.microsoft.com/office/drawing/2014/main" id="{B296E22E-7EA4-0FD2-7B98-F6CB5BB97AB9}"/>
              </a:ext>
            </a:extLst>
          </p:cNvPr>
          <p:cNvPicPr>
            <a:picLocks noChangeAspect="1"/>
          </p:cNvPicPr>
          <p:nvPr/>
        </p:nvPicPr>
        <p:blipFill>
          <a:blip r:embed="rId4" cstate="print">
            <a:extLst>
              <a:ext uri="{28A0092B-C50C-407E-A947-70E740481C1C}">
                <a14:useLocalDpi xmlns:a14="http://schemas.microsoft.com/office/drawing/2010/main" val="0"/>
              </a:ext>
            </a:extLst>
          </a:blip>
          <a:srcRect l="67258" r="786"/>
          <a:stretch>
            <a:fillRect/>
          </a:stretch>
        </p:blipFill>
        <p:spPr>
          <a:xfrm>
            <a:off x="9354819" y="3650394"/>
            <a:ext cx="2402774" cy="1900395"/>
          </a:xfrm>
          <a:prstGeom prst="rect">
            <a:avLst/>
          </a:prstGeom>
        </p:spPr>
      </p:pic>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228A8A28-0D43-C564-7B6A-20F75755616A}"/>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Perfectly 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629399" y="1556991"/>
            <a:ext cx="5050811" cy="2895600"/>
          </a:xfrm>
          <a:prstGeom prst="rect">
            <a:avLst/>
          </a:prstGeom>
        </p:spPr>
        <p:txBody>
          <a:bodyPr>
            <a:normAutofit lnSpcReduction="1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the Compact Models and Circuit Model</a:t>
            </a:r>
          </a:p>
          <a:p>
            <a:pPr marL="342900" indent="-342900" algn="just">
              <a:buFont typeface="Arial" panose="020B0604020202020204" pitchFamily="34" charset="0"/>
              <a:buChar char="•"/>
            </a:pPr>
            <a:r>
              <a:rPr lang="en-US" sz="2000" dirty="0"/>
              <a:t>Describe how to </a:t>
            </a:r>
            <a:r>
              <a:rPr lang="es-ES" sz="2000" dirty="0" err="1"/>
              <a:t>simulate</a:t>
            </a:r>
            <a:r>
              <a:rPr lang="es-ES" sz="2000" dirty="0"/>
              <a:t> </a:t>
            </a:r>
            <a:r>
              <a:rPr lang="es-ES" sz="2000" dirty="0" err="1"/>
              <a:t>usin</a:t>
            </a:r>
            <a:r>
              <a:rPr lang="es-ES" sz="2000" dirty="0"/>
              <a:t> SAX </a:t>
            </a:r>
            <a:r>
              <a:rPr lang="es-ES" sz="2000" dirty="0" err="1"/>
              <a:t>library</a:t>
            </a:r>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b="1" dirty="0"/>
              <a:t>ALL EXAMPLE #1: </a:t>
            </a:r>
          </a:p>
          <a:p>
            <a:pPr marL="0" indent="0" algn="just">
              <a:buNone/>
            </a:pPr>
            <a:r>
              <a:rPr lang="en-US" dirty="0" err="1"/>
              <a:t>wvl</a:t>
            </a:r>
            <a:r>
              <a:rPr lang="en-US" dirty="0"/>
              <a:t> [1500-1600] step 0.001</a:t>
            </a:r>
          </a:p>
          <a:p>
            <a:pPr marL="0" indent="0" algn="just">
              <a:buNone/>
            </a:pPr>
            <a:r>
              <a:rPr lang="en-US" dirty="0"/>
              <a:t>dL = 0</a:t>
            </a:r>
          </a:p>
          <a:p>
            <a:pPr marL="0" indent="0" algn="just">
              <a:buNone/>
            </a:pPr>
            <a:r>
              <a:rPr lang="en-US" dirty="0"/>
              <a:t>Kin = Kout = 0.5 for all </a:t>
            </a:r>
            <a:r>
              <a:rPr lang="en-US" dirty="0" err="1"/>
              <a:t>wvl</a:t>
            </a:r>
            <a:endParaRPr lang="en-US"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and comment your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82AE4A84-532D-D50D-F368-79FF1C11E97A}"/>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024B9AF7-5B09-CE7C-68D9-8620B8F4F607}"/>
              </a:ext>
            </a:extLst>
          </p:cNvPr>
          <p:cNvSpPr txBox="1"/>
          <p:nvPr/>
        </p:nvSpPr>
        <p:spPr>
          <a:xfrm>
            <a:off x="1690195" y="2494306"/>
            <a:ext cx="3171061" cy="1154162"/>
          </a:xfrm>
          <a:prstGeom prst="rect">
            <a:avLst/>
          </a:prstGeom>
          <a:noFill/>
        </p:spPr>
        <p:txBody>
          <a:bodyPr wrap="none" rtlCol="0">
            <a:spAutoFit/>
          </a:bodyPr>
          <a:lstStyle/>
          <a:p>
            <a:pPr algn="ctr"/>
            <a:r>
              <a:rPr lang="es-ES" dirty="0"/>
              <a:t>MZI transfer </a:t>
            </a:r>
            <a:r>
              <a:rPr lang="es-ES" dirty="0" err="1"/>
              <a:t>functions</a:t>
            </a:r>
            <a:endParaRPr lang="en-US" dirty="0"/>
          </a:p>
          <a:p>
            <a:pPr algn="ctr"/>
            <a:endParaRPr lang="en-US" dirty="0"/>
          </a:p>
          <a:p>
            <a:pPr algn="ctr"/>
            <a:r>
              <a:rPr lang="en-US" dirty="0"/>
              <a:t>Paste plot here</a:t>
            </a:r>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EA17-A19F-F6ED-E241-A2268CBA45D6}"/>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DA69D816-535A-F5EE-E106-BA148A1B2DF6}"/>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D79563BA-3258-C655-D121-E2E23B61FDB5}"/>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#1b – Unbalanced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08B251FE-4B29-D52F-1DB1-9E5BBD8CFF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3FA43D9-CFE1-F872-DD44-E04BB1B18DFD}"/>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06710B9A-16F8-7A75-9BC8-FE3189874FB8}"/>
              </a:ext>
            </a:extLst>
          </p:cNvPr>
          <p:cNvSpPr>
            <a:spLocks noGrp="1"/>
          </p:cNvSpPr>
          <p:nvPr>
            <p:ph type="ftr" sz="quarter" idx="5"/>
          </p:nvPr>
        </p:nvSpPr>
        <p:spPr/>
        <p:txBody>
          <a:bodyPr/>
          <a:lstStyle/>
          <a:p>
            <a:pPr marL="12700">
              <a:spcBef>
                <a:spcPts val="15"/>
              </a:spcBef>
            </a:pPr>
            <a:r>
              <a:rPr lang="en-US" spc="-5"/>
              <a:t>LAB 3.0 CIRCUITS &amp; COMPACT MODELS</a:t>
            </a:r>
            <a:endParaRPr lang="es-ES" spc="-5" dirty="0"/>
          </a:p>
        </p:txBody>
      </p:sp>
      <p:sp>
        <p:nvSpPr>
          <p:cNvPr id="4" name="Marcador de texto 2">
            <a:extLst>
              <a:ext uri="{FF2B5EF4-FFF2-40B4-BE49-F238E27FC236}">
                <a16:creationId xmlns:a16="http://schemas.microsoft.com/office/drawing/2014/main" id="{0E86A2CB-D14B-54A7-9376-DAE1E4FF0284}"/>
              </a:ext>
            </a:extLst>
          </p:cNvPr>
          <p:cNvSpPr txBox="1">
            <a:spLocks/>
          </p:cNvSpPr>
          <p:nvPr/>
        </p:nvSpPr>
        <p:spPr>
          <a:xfrm>
            <a:off x="6629399" y="1556991"/>
            <a:ext cx="5050811" cy="2895600"/>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s-ES" b="1" dirty="0"/>
              <a:t>HINTS</a:t>
            </a:r>
            <a:r>
              <a:rPr lang="en-US" b="1" dirty="0"/>
              <a:t>: </a:t>
            </a:r>
          </a:p>
          <a:p>
            <a:pPr marL="0" indent="0" algn="just">
              <a:buNone/>
            </a:pPr>
            <a:r>
              <a:rPr lang="en-US" dirty="0" err="1"/>
              <a:t>wvl</a:t>
            </a:r>
            <a:r>
              <a:rPr lang="en-US" dirty="0"/>
              <a:t> [1500-1600] step 0.001</a:t>
            </a:r>
          </a:p>
          <a:p>
            <a:pPr algn="just"/>
            <a:r>
              <a:rPr lang="en-US" dirty="0"/>
              <a:t>dL = </a:t>
            </a:r>
            <a:r>
              <a:rPr lang="en-US" dirty="0">
                <a:latin typeface="Arial" panose="020B0604020202020204" pitchFamily="34" charset="0"/>
                <a:cs typeface="Arial" panose="020B0604020202020204" pitchFamily="34" charset="0"/>
                <a:sym typeface="Wingdings" pitchFamily="2" charset="2"/>
              </a:rPr>
              <a:t>100 µm</a:t>
            </a:r>
            <a:endParaRPr lang="en-US" dirty="0"/>
          </a:p>
          <a:p>
            <a:pPr marL="0" indent="0" algn="just">
              <a:buNone/>
            </a:pPr>
            <a:r>
              <a:rPr lang="en-US" dirty="0"/>
              <a:t>Kin = Kout = 0.5 for all </a:t>
            </a:r>
            <a:r>
              <a:rPr lang="en-US" dirty="0" err="1"/>
              <a:t>wvl</a:t>
            </a:r>
            <a:endParaRPr lang="en-US"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50C41089-061E-9B39-3904-6F31AFE073B8}"/>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describe the transfer function, which is the FSR? How is it related to the length difference among arms?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Show a numeric calculation of the FSR and length difference matching the results in the graph,</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F95B976F-6522-EA3D-1323-5C97E9F88EDF}"/>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8934523B-51D9-2926-EAC0-7EAD4D1D5B75}"/>
              </a:ext>
            </a:extLst>
          </p:cNvPr>
          <p:cNvSpPr txBox="1"/>
          <p:nvPr/>
        </p:nvSpPr>
        <p:spPr>
          <a:xfrm>
            <a:off x="1690195" y="2494306"/>
            <a:ext cx="3171061" cy="1154162"/>
          </a:xfrm>
          <a:prstGeom prst="rect">
            <a:avLst/>
          </a:prstGeom>
          <a:noFill/>
        </p:spPr>
        <p:txBody>
          <a:bodyPr wrap="none" rtlCol="0">
            <a:spAutoFit/>
          </a:bodyPr>
          <a:lstStyle/>
          <a:p>
            <a:pPr algn="ctr"/>
            <a:r>
              <a:rPr lang="es-ES" dirty="0"/>
              <a:t>MZI transfer </a:t>
            </a:r>
            <a:r>
              <a:rPr lang="es-ES" dirty="0" err="1"/>
              <a:t>functions</a:t>
            </a:r>
            <a:endParaRPr lang="en-US" dirty="0"/>
          </a:p>
          <a:p>
            <a:pPr algn="ctr"/>
            <a:endParaRPr lang="en-US" dirty="0"/>
          </a:p>
          <a:p>
            <a:pPr algn="ctr"/>
            <a:r>
              <a:rPr lang="en-US" dirty="0"/>
              <a:t>Paste plot here</a:t>
            </a:r>
          </a:p>
        </p:txBody>
      </p:sp>
    </p:spTree>
    <p:extLst>
      <p:ext uri="{BB962C8B-B14F-4D97-AF65-F5344CB8AC3E}">
        <p14:creationId xmlns:p14="http://schemas.microsoft.com/office/powerpoint/2010/main" val="2395180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5</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1D17C364-5A66-F740-B152-8B41A2A4EF26}"/>
              </a:ext>
            </a:extLst>
          </p:cNvPr>
          <p:cNvSpPr txBox="1"/>
          <p:nvPr/>
        </p:nvSpPr>
        <p:spPr>
          <a:xfrm>
            <a:off x="5305711" y="2494307"/>
            <a:ext cx="2494977" cy="1015663"/>
          </a:xfrm>
          <a:prstGeom prst="rect">
            <a:avLst/>
          </a:prstGeom>
          <a:noFill/>
        </p:spPr>
        <p:txBody>
          <a:bodyPr wrap="none" rtlCol="0">
            <a:spAutoFit/>
          </a:bodyPr>
          <a:lstStyle/>
          <a:p>
            <a:pPr algn="ctr"/>
            <a:r>
              <a:rPr lang="es-ES" sz="2000" dirty="0"/>
              <a:t>MZI transfer </a:t>
            </a:r>
            <a:r>
              <a:rPr lang="es-ES" sz="2000" dirty="0" err="1"/>
              <a:t>functions</a:t>
            </a:r>
            <a:endParaRPr lang="en-US" sz="2000" dirty="0"/>
          </a:p>
          <a:p>
            <a:pPr algn="ctr"/>
            <a:endParaRPr lang="en-US" sz="2000" dirty="0"/>
          </a:p>
          <a:p>
            <a:pPr algn="ctr"/>
            <a:r>
              <a:rPr lang="en-US" sz="2000" dirty="0"/>
              <a:t>Paste plot here</a:t>
            </a:r>
          </a:p>
        </p:txBody>
      </p:sp>
      <p:sp>
        <p:nvSpPr>
          <p:cNvPr id="3" name="Rectángulo 2">
            <a:extLst>
              <a:ext uri="{FF2B5EF4-FFF2-40B4-BE49-F238E27FC236}">
                <a16:creationId xmlns:a16="http://schemas.microsoft.com/office/drawing/2014/main" id="{5FB43DF1-4048-35BF-BD58-4BF2A341D2EF}"/>
              </a:ext>
            </a:extLst>
          </p:cNvPr>
          <p:cNvSpPr/>
          <p:nvPr/>
        </p:nvSpPr>
        <p:spPr>
          <a:xfrm>
            <a:off x="8610601" y="1418373"/>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b="1" dirty="0">
                <a:solidFill>
                  <a:schemeClr val="tx1"/>
                </a:solidFill>
                <a:latin typeface="Arial" panose="020B0604020202020204" pitchFamily="34" charset="0"/>
                <a:cs typeface="Arial" panose="020B0604020202020204" pitchFamily="34" charset="0"/>
              </a:rPr>
              <a:t>Hints:</a:t>
            </a:r>
            <a:endParaRPr lang="en-US" dirty="0">
              <a:solidFill>
                <a:schemeClr val="tx1"/>
              </a:solidFill>
              <a:latin typeface="Arial" panose="020B0604020202020204" pitchFamily="34" charset="0"/>
              <a:cs typeface="Arial" panose="020B0604020202020204" pitchFamily="34" charset="0"/>
            </a:endParaRPr>
          </a:p>
          <a:p>
            <a:pPr algn="just"/>
            <a:r>
              <a:rPr lang="en-US" dirty="0" err="1">
                <a:solidFill>
                  <a:schemeClr val="tx1"/>
                </a:solidFill>
                <a:latin typeface="Arial" panose="020B0604020202020204" pitchFamily="34" charset="0"/>
                <a:cs typeface="Arial" panose="020B0604020202020204" pitchFamily="34" charset="0"/>
                <a:sym typeface="Wingdings" pitchFamily="2" charset="2"/>
              </a:rPr>
              <a:t>wvl</a:t>
            </a:r>
            <a:r>
              <a:rPr lang="en-US" dirty="0">
                <a:solidFill>
                  <a:schemeClr val="tx1"/>
                </a:solidFill>
                <a:latin typeface="Arial" panose="020B0604020202020204" pitchFamily="34" charset="0"/>
                <a:cs typeface="Arial" panose="020B0604020202020204" pitchFamily="34" charset="0"/>
                <a:sym typeface="Wingdings" pitchFamily="2" charset="2"/>
              </a:rPr>
              <a:t> [1500-1600] step 0.001</a:t>
            </a:r>
          </a:p>
          <a:p>
            <a:pPr algn="just"/>
            <a:r>
              <a:rPr lang="en-US" dirty="0">
                <a:solidFill>
                  <a:schemeClr val="tx1"/>
                </a:solidFill>
                <a:latin typeface="Arial" panose="020B0604020202020204" pitchFamily="34" charset="0"/>
                <a:cs typeface="Arial" panose="020B0604020202020204" pitchFamily="34" charset="0"/>
                <a:sym typeface="Wingdings" pitchFamily="2" charset="2"/>
              </a:rPr>
              <a:t>dL = ? µm </a:t>
            </a:r>
            <a:r>
              <a:rPr lang="en-US" b="1" dirty="0">
                <a:solidFill>
                  <a:schemeClr val="tx1"/>
                </a:solidFill>
                <a:latin typeface="Arial" panose="020B0604020202020204" pitchFamily="34" charset="0"/>
                <a:cs typeface="Arial" panose="020B0604020202020204" pitchFamily="34" charset="0"/>
                <a:sym typeface="Wingdings" pitchFamily="2" charset="2"/>
              </a:rPr>
              <a:t>calculate for FSR = 2 nm </a:t>
            </a:r>
          </a:p>
          <a:p>
            <a:pPr algn="just"/>
            <a:r>
              <a:rPr lang="en-US" dirty="0">
                <a:solidFill>
                  <a:schemeClr val="tx1"/>
                </a:solidFill>
                <a:latin typeface="Arial" panose="020B0604020202020204" pitchFamily="34" charset="0"/>
                <a:cs typeface="Arial" panose="020B0604020202020204" pitchFamily="34" charset="0"/>
                <a:sym typeface="Wingdings" pitchFamily="2" charset="2"/>
              </a:rPr>
              <a:t>Ka = </a:t>
            </a:r>
            <a:r>
              <a:rPr lang="en-US" dirty="0" err="1">
                <a:solidFill>
                  <a:schemeClr val="tx1"/>
                </a:solidFill>
                <a:latin typeface="Arial" panose="020B0604020202020204" pitchFamily="34" charset="0"/>
                <a:cs typeface="Arial" panose="020B0604020202020204" pitchFamily="34" charset="0"/>
                <a:sym typeface="Wingdings" pitchFamily="2" charset="2"/>
              </a:rPr>
              <a:t>Kb</a:t>
            </a:r>
            <a:r>
              <a:rPr lang="en-US" dirty="0">
                <a:solidFill>
                  <a:schemeClr val="tx1"/>
                </a:solidFill>
                <a:latin typeface="Arial" panose="020B0604020202020204" pitchFamily="34" charset="0"/>
                <a:cs typeface="Arial" panose="020B0604020202020204" pitchFamily="34" charset="0"/>
                <a:sym typeface="Wingdings" pitchFamily="2" charset="2"/>
              </a:rPr>
              <a:t> = 0.5 for all </a:t>
            </a:r>
            <a:r>
              <a:rPr lang="en-US" dirty="0" err="1">
                <a:solidFill>
                  <a:schemeClr val="tx1"/>
                </a:solidFill>
                <a:latin typeface="Arial" panose="020B0604020202020204" pitchFamily="34" charset="0"/>
                <a:cs typeface="Arial" panose="020B0604020202020204" pitchFamily="34" charset="0"/>
                <a:sym typeface="Wingdings" pitchFamily="2" charset="2"/>
              </a:rPr>
              <a:t>wvl</a:t>
            </a:r>
            <a:endParaRPr lang="en-US"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6AA857E7-5C39-DCE1-10B5-40300FCF4B26}"/>
              </a:ext>
            </a:extLst>
          </p:cNvPr>
          <p:cNvSpPr/>
          <p:nvPr/>
        </p:nvSpPr>
        <p:spPr>
          <a:xfrm>
            <a:off x="464820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54CF28B4-1346-F41D-2CD8-EA104ABBFB98}"/>
              </a:ext>
            </a:extLst>
          </p:cNvPr>
          <p:cNvSpPr txBox="1"/>
          <p:nvPr/>
        </p:nvSpPr>
        <p:spPr>
          <a:xfrm>
            <a:off x="1017546" y="2478160"/>
            <a:ext cx="2996974" cy="1015663"/>
          </a:xfrm>
          <a:prstGeom prst="rect">
            <a:avLst/>
          </a:prstGeom>
          <a:noFill/>
        </p:spPr>
        <p:txBody>
          <a:bodyPr wrap="none" rtlCol="0">
            <a:spAutoFit/>
          </a:bodyPr>
          <a:lstStyle/>
          <a:p>
            <a:pPr algn="ctr"/>
            <a:r>
              <a:rPr lang="en-US" sz="2000" dirty="0"/>
              <a:t>Your design justification</a:t>
            </a:r>
          </a:p>
          <a:p>
            <a:pPr algn="ctr"/>
            <a:endParaRPr lang="en-US" sz="2000" dirty="0"/>
          </a:p>
          <a:p>
            <a:pPr algn="ctr"/>
            <a:r>
              <a:rPr lang="en-US" sz="2000" dirty="0"/>
              <a:t>Write equations / numbers</a:t>
            </a:r>
          </a:p>
        </p:txBody>
      </p:sp>
      <p:pic>
        <p:nvPicPr>
          <p:cNvPr id="10" name="Gráfico 9">
            <a:extLst>
              <a:ext uri="{FF2B5EF4-FFF2-40B4-BE49-F238E27FC236}">
                <a16:creationId xmlns:a16="http://schemas.microsoft.com/office/drawing/2014/main" id="{C582D9ED-A2CE-6C08-D473-4C1FC636E8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98DA9316-CFD5-58C0-735F-237403D53172}"/>
              </a:ext>
            </a:extLst>
          </p:cNvPr>
          <p:cNvSpPr txBox="1">
            <a:spLocks/>
          </p:cNvSpPr>
          <p:nvPr/>
        </p:nvSpPr>
        <p:spPr>
          <a:xfrm>
            <a:off x="685800" y="408883"/>
            <a:ext cx="10994410" cy="1025922"/>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#2 – MZI Design</a:t>
            </a:r>
          </a:p>
          <a:p>
            <a:pPr marL="12700">
              <a:spcBef>
                <a:spcPts val="100"/>
              </a:spcBef>
            </a:pPr>
            <a:r>
              <a:rPr lang="en-US" b="0" kern="0" spc="-5" dirty="0">
                <a:latin typeface="+mj-lt"/>
                <a:cs typeface="Lucida Sans"/>
              </a:rPr>
              <a:t>Design a MZI with FSR = 10 nm at 1550 nm</a:t>
            </a:r>
            <a:br>
              <a:rPr lang="en-US" b="0" kern="0" spc="-5" dirty="0">
                <a:latin typeface="+mj-lt"/>
                <a:cs typeface="Lucida Sans"/>
              </a:rPr>
            </a:br>
            <a:endParaRPr lang="en-US" b="0" kern="0" dirty="0">
              <a:latin typeface="+mj-lt"/>
              <a:cs typeface="Lucida Sans"/>
            </a:endParaRPr>
          </a:p>
        </p:txBody>
      </p:sp>
    </p:spTree>
    <p:extLst>
      <p:ext uri="{BB962C8B-B14F-4D97-AF65-F5344CB8AC3E}">
        <p14:creationId xmlns:p14="http://schemas.microsoft.com/office/powerpoint/2010/main" val="122265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636B-7BF0-5143-57E9-673FF1B33E8E}"/>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D79F9CCB-631D-A124-3694-9DBF91E01CAA}"/>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DED76083-7F21-5E97-9AC1-DEEB9C8B23CA}"/>
              </a:ext>
            </a:extLst>
          </p:cNvPr>
          <p:cNvSpPr>
            <a:spLocks noGrp="1"/>
          </p:cNvSpPr>
          <p:nvPr>
            <p:ph type="sldNum" sz="quarter" idx="7"/>
          </p:nvPr>
        </p:nvSpPr>
        <p:spPr/>
        <p:txBody>
          <a:bodyPr/>
          <a:lstStyle/>
          <a:p>
            <a:fld id="{C2F52289-4012-4053-9770-FE82CEB9514F}" type="slidenum">
              <a:rPr lang="en-US" smtClean="0"/>
              <a:pPr/>
              <a:t>6</a:t>
            </a:fld>
            <a:endParaRPr lang="en-US" dirty="0"/>
          </a:p>
        </p:txBody>
      </p:sp>
      <p:pic>
        <p:nvPicPr>
          <p:cNvPr id="10" name="Gráfico 9">
            <a:extLst>
              <a:ext uri="{FF2B5EF4-FFF2-40B4-BE49-F238E27FC236}">
                <a16:creationId xmlns:a16="http://schemas.microsoft.com/office/drawing/2014/main" id="{6A4FE9E0-92EE-4367-CEE1-FB072709D7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1E286371-F443-FD5C-BF57-FB23A8D7F4F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#3 – Delay imbalance with loss</a:t>
            </a:r>
          </a:p>
          <a:p>
            <a:pPr marL="12700">
              <a:spcBef>
                <a:spcPts val="100"/>
              </a:spcBef>
            </a:pPr>
            <a:r>
              <a:rPr lang="en-US" b="0" kern="0" spc="-5" dirty="0">
                <a:latin typeface="+mj-lt"/>
                <a:cs typeface="Lucida Sans"/>
              </a:rPr>
              <a:t>Fringe visibility</a:t>
            </a:r>
            <a:endParaRPr lang="en-US" b="0" kern="0" dirty="0">
              <a:latin typeface="+mj-lt"/>
              <a:cs typeface="Lucida Sans"/>
            </a:endParaRPr>
          </a:p>
        </p:txBody>
      </p:sp>
      <p:sp>
        <p:nvSpPr>
          <p:cNvPr id="2" name="CuadroTexto 1">
            <a:extLst>
              <a:ext uri="{FF2B5EF4-FFF2-40B4-BE49-F238E27FC236}">
                <a16:creationId xmlns:a16="http://schemas.microsoft.com/office/drawing/2014/main" id="{F1C12A10-91CE-B5DA-9D77-267ED06AEAC2}"/>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describe the transfer function, is there any interference pattern in case 1? Is there any interference pattern in case 2? Explain the difference between both cases. Compare the Extinction Ratio of both variations. </a:t>
            </a:r>
          </a:p>
          <a:p>
            <a:pPr algn="just"/>
            <a:r>
              <a:rPr lang="en-US" sz="1200" dirty="0">
                <a:latin typeface="Arial" panose="020B0604020202020204" pitchFamily="34" charset="0"/>
                <a:cs typeface="Arial" panose="020B0604020202020204" pitchFamily="34" charset="0"/>
              </a:rPr>
              <a:t>Extra: What coupling coefficient will you select for the input coupler if you want to match the losses of the longer arm? Simulate and extract the ER.</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DBAE930-4EE5-671B-4DE7-6BC60C48E7C0}"/>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A6CCE634-FF91-FD5F-7C1D-4329E9DA2469}"/>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600" b="1" dirty="0">
                <a:solidFill>
                  <a:schemeClr val="tx1"/>
                </a:solidFill>
                <a:latin typeface="Arial" panose="020B0604020202020204" pitchFamily="34" charset="0"/>
                <a:cs typeface="Arial" panose="020B0604020202020204" pitchFamily="34" charset="0"/>
              </a:rPr>
              <a:t>Hints:</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wvl</a:t>
            </a:r>
            <a:r>
              <a:rPr lang="en-US" sz="1600" dirty="0">
                <a:solidFill>
                  <a:schemeClr val="tx1"/>
                </a:solidFill>
                <a:latin typeface="Arial" panose="020B0604020202020204" pitchFamily="34" charset="0"/>
                <a:cs typeface="Arial" panose="020B0604020202020204" pitchFamily="34" charset="0"/>
                <a:sym typeface="Wingdings" pitchFamily="2" charset="2"/>
              </a:rPr>
              <a:t> [1550-1550.5] step 0.0000005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Silicon waveguide model:</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n_eff</a:t>
            </a:r>
            <a:r>
              <a:rPr lang="en-US" sz="1600" dirty="0">
                <a:solidFill>
                  <a:schemeClr val="tx1"/>
                </a:solidFill>
                <a:latin typeface="Arial" panose="020B0604020202020204" pitchFamily="34" charset="0"/>
                <a:cs typeface="Arial" panose="020B0604020202020204" pitchFamily="34" charset="0"/>
                <a:sym typeface="Wingdings" pitchFamily="2" charset="2"/>
              </a:rPr>
              <a:t> = 2.38, </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n_g</a:t>
            </a:r>
            <a:r>
              <a:rPr lang="en-US" sz="1600" dirty="0">
                <a:solidFill>
                  <a:schemeClr val="tx1"/>
                </a:solidFill>
                <a:latin typeface="Arial" panose="020B0604020202020204" pitchFamily="34" charset="0"/>
                <a:cs typeface="Arial" panose="020B0604020202020204" pitchFamily="34" charset="0"/>
                <a:sym typeface="Wingdings" pitchFamily="2" charset="2"/>
              </a:rPr>
              <a:t> = 4.25, </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D=0,</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=1000</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dL = </a:t>
            </a:r>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 + 55960.0840224255;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loss = 4 dB / cm</a:t>
            </a:r>
          </a:p>
          <a:p>
            <a:pPr algn="just"/>
            <a:r>
              <a:rPr lang="en-US" sz="1600" b="1" dirty="0">
                <a:solidFill>
                  <a:schemeClr val="tx1"/>
                </a:solidFill>
                <a:latin typeface="Arial" panose="020B0604020202020204" pitchFamily="34" charset="0"/>
                <a:cs typeface="Arial" panose="020B0604020202020204" pitchFamily="34" charset="0"/>
                <a:sym typeface="Wingdings" pitchFamily="2" charset="2"/>
              </a:rPr>
              <a:t>Case 1</a:t>
            </a:r>
            <a:r>
              <a:rPr lang="en-US" sz="1600" dirty="0">
                <a:solidFill>
                  <a:schemeClr val="tx1"/>
                </a:solidFill>
                <a:latin typeface="Arial" panose="020B0604020202020204" pitchFamily="34" charset="0"/>
                <a:cs typeface="Arial" panose="020B0604020202020204" pitchFamily="34" charset="0"/>
                <a:sym typeface="Wingdings" pitchFamily="2" charset="2"/>
              </a:rPr>
              <a:t>. Simulate for Ka = </a:t>
            </a:r>
            <a:r>
              <a:rPr lang="en-US" sz="1600" dirty="0" err="1">
                <a:solidFill>
                  <a:schemeClr val="tx1"/>
                </a:solidFill>
                <a:latin typeface="Arial" panose="020B0604020202020204" pitchFamily="34" charset="0"/>
                <a:cs typeface="Arial" panose="020B0604020202020204" pitchFamily="34" charset="0"/>
                <a:sym typeface="Wingdings" pitchFamily="2" charset="2"/>
              </a:rPr>
              <a:t>Kb</a:t>
            </a:r>
            <a:r>
              <a:rPr lang="en-US" sz="1600" dirty="0">
                <a:solidFill>
                  <a:schemeClr val="tx1"/>
                </a:solidFill>
                <a:latin typeface="Arial" panose="020B0604020202020204" pitchFamily="34" charset="0"/>
                <a:cs typeface="Arial" panose="020B0604020202020204" pitchFamily="34" charset="0"/>
                <a:sym typeface="Wingdings" pitchFamily="2" charset="2"/>
              </a:rPr>
              <a:t> = 0.5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r>
              <a:rPr lang="en-US" sz="1600" b="1" dirty="0">
                <a:solidFill>
                  <a:schemeClr val="tx1"/>
                </a:solidFill>
                <a:latin typeface="Arial" panose="020B0604020202020204" pitchFamily="34" charset="0"/>
                <a:cs typeface="Arial" panose="020B0604020202020204" pitchFamily="34" charset="0"/>
                <a:sym typeface="Wingdings" pitchFamily="2" charset="2"/>
              </a:rPr>
              <a:t>Case 2</a:t>
            </a:r>
            <a:r>
              <a:rPr lang="en-US" sz="1600" dirty="0">
                <a:solidFill>
                  <a:schemeClr val="tx1"/>
                </a:solidFill>
                <a:latin typeface="Arial" panose="020B0604020202020204" pitchFamily="34" charset="0"/>
                <a:cs typeface="Arial" panose="020B0604020202020204" pitchFamily="34" charset="0"/>
                <a:sym typeface="Wingdings" pitchFamily="2" charset="2"/>
              </a:rPr>
              <a:t>. Simulate for Ka=0.1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Kb</a:t>
            </a:r>
            <a:r>
              <a:rPr lang="en-US" sz="1600" dirty="0">
                <a:solidFill>
                  <a:schemeClr val="tx1"/>
                </a:solidFill>
                <a:latin typeface="Arial" panose="020B0604020202020204" pitchFamily="34" charset="0"/>
                <a:cs typeface="Arial" panose="020B0604020202020204" pitchFamily="34" charset="0"/>
                <a:sym typeface="Wingdings" pitchFamily="2" charset="2"/>
              </a:rPr>
              <a:t>=0.5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EF71FD03-8141-88A1-69BA-49588EB48896}"/>
              </a:ext>
            </a:extLst>
          </p:cNvPr>
          <p:cNvSpPr txBox="1"/>
          <p:nvPr/>
        </p:nvSpPr>
        <p:spPr>
          <a:xfrm>
            <a:off x="1690195" y="2494306"/>
            <a:ext cx="3171061" cy="1154162"/>
          </a:xfrm>
          <a:prstGeom prst="rect">
            <a:avLst/>
          </a:prstGeom>
          <a:noFill/>
        </p:spPr>
        <p:txBody>
          <a:bodyPr wrap="none" rtlCol="0">
            <a:spAutoFit/>
          </a:bodyPr>
          <a:lstStyle/>
          <a:p>
            <a:pPr algn="ctr"/>
            <a:r>
              <a:rPr lang="es-ES" dirty="0"/>
              <a:t>MZI transfer </a:t>
            </a:r>
            <a:r>
              <a:rPr lang="es-ES" dirty="0" err="1"/>
              <a:t>functions</a:t>
            </a:r>
            <a:endParaRPr lang="en-US" dirty="0"/>
          </a:p>
          <a:p>
            <a:pPr algn="ctr"/>
            <a:endParaRPr lang="en-US" dirty="0"/>
          </a:p>
          <a:p>
            <a:pPr algn="ctr"/>
            <a:r>
              <a:rPr lang="en-US" dirty="0"/>
              <a:t>Paste plot here</a:t>
            </a:r>
          </a:p>
        </p:txBody>
      </p:sp>
    </p:spTree>
    <p:extLst>
      <p:ext uri="{BB962C8B-B14F-4D97-AF65-F5344CB8AC3E}">
        <p14:creationId xmlns:p14="http://schemas.microsoft.com/office/powerpoint/2010/main" val="1475710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7</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describer the transfer functions. which is the FSR? How is it related to the ring perimeter?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Show a numeric calculation of the FSR and length difference matching the results in the graph,</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1D17C364-5A66-F740-B152-8B41A2A4EF26}"/>
              </a:ext>
            </a:extLst>
          </p:cNvPr>
          <p:cNvSpPr txBox="1"/>
          <p:nvPr/>
        </p:nvSpPr>
        <p:spPr>
          <a:xfrm>
            <a:off x="5536543" y="2494307"/>
            <a:ext cx="2033313" cy="1323439"/>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err="1"/>
              <a:t>Logaritmic</a:t>
            </a:r>
            <a:r>
              <a:rPr lang="es-ES" sz="2000" dirty="0"/>
              <a:t> </a:t>
            </a:r>
            <a:r>
              <a:rPr lang="es-ES" sz="2000" dirty="0" err="1"/>
              <a:t>units</a:t>
            </a:r>
            <a:endParaRPr lang="en-US" sz="2000" dirty="0"/>
          </a:p>
        </p:txBody>
      </p:sp>
      <p:sp>
        <p:nvSpPr>
          <p:cNvPr id="3" name="Rectángulo 2">
            <a:extLst>
              <a:ext uri="{FF2B5EF4-FFF2-40B4-BE49-F238E27FC236}">
                <a16:creationId xmlns:a16="http://schemas.microsoft.com/office/drawing/2014/main" id="{5FB43DF1-4048-35BF-BD58-4BF2A341D2EF}"/>
              </a:ext>
            </a:extLst>
          </p:cNvPr>
          <p:cNvSpPr/>
          <p:nvPr/>
        </p:nvSpPr>
        <p:spPr>
          <a:xfrm>
            <a:off x="8610601" y="1418373"/>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200" b="1" dirty="0">
                <a:solidFill>
                  <a:schemeClr val="tx1"/>
                </a:solidFill>
                <a:latin typeface="Arial" panose="020B0604020202020204" pitchFamily="34" charset="0"/>
                <a:cs typeface="Arial" panose="020B0604020202020204" pitchFamily="34" charset="0"/>
              </a:rPr>
              <a:t>Hints:</a:t>
            </a:r>
          </a:p>
          <a:p>
            <a:pPr algn="just"/>
            <a:endParaRPr lang="en-US" sz="1200" b="1" dirty="0">
              <a:solidFill>
                <a:schemeClr val="tx1"/>
              </a:solidFill>
              <a:latin typeface="Arial" panose="020B0604020202020204" pitchFamily="34" charset="0"/>
              <a:cs typeface="Arial" panose="020B0604020202020204" pitchFamily="34" charset="0"/>
            </a:endParaRPr>
          </a:p>
          <a:p>
            <a:pPr algn="just"/>
            <a:r>
              <a:rPr lang="en-US" sz="1200" dirty="0">
                <a:solidFill>
                  <a:schemeClr val="tx1"/>
                </a:solidFill>
                <a:latin typeface="Arial" panose="020B0604020202020204" pitchFamily="34" charset="0"/>
                <a:cs typeface="Arial" panose="020B0604020202020204" pitchFamily="34" charset="0"/>
              </a:rPr>
              <a:t>None </a:t>
            </a:r>
            <a:r>
              <a:rPr lang="en-US" sz="1200" dirty="0">
                <a:solidFill>
                  <a:schemeClr val="tx1"/>
                </a:solidFill>
                <a:latin typeface="Arial" panose="020B0604020202020204" pitchFamily="34" charset="0"/>
                <a:cs typeface="Arial" panose="020B0604020202020204" pitchFamily="34" charset="0"/>
                <a:sym typeface="Wingdings" pitchFamily="2" charset="2"/>
              </a:rPr>
              <a:t> </a:t>
            </a:r>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6AA857E7-5C39-DCE1-10B5-40300FCF4B26}"/>
              </a:ext>
            </a:extLst>
          </p:cNvPr>
          <p:cNvSpPr/>
          <p:nvPr/>
        </p:nvSpPr>
        <p:spPr>
          <a:xfrm>
            <a:off x="464820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54CF28B4-1346-F41D-2CD8-EA104ABBFB98}"/>
              </a:ext>
            </a:extLst>
          </p:cNvPr>
          <p:cNvSpPr txBox="1"/>
          <p:nvPr/>
        </p:nvSpPr>
        <p:spPr>
          <a:xfrm>
            <a:off x="1499379" y="2478160"/>
            <a:ext cx="2033313" cy="1323439"/>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n-US" sz="2000" dirty="0"/>
          </a:p>
        </p:txBody>
      </p:sp>
      <p:pic>
        <p:nvPicPr>
          <p:cNvPr id="9" name="Gráfico 8">
            <a:extLst>
              <a:ext uri="{FF2B5EF4-FFF2-40B4-BE49-F238E27FC236}">
                <a16:creationId xmlns:a16="http://schemas.microsoft.com/office/drawing/2014/main" id="{83C716FC-7070-6DA5-E116-195D4CD9BD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0" name="object 16">
            <a:extLst>
              <a:ext uri="{FF2B5EF4-FFF2-40B4-BE49-F238E27FC236}">
                <a16:creationId xmlns:a16="http://schemas.microsoft.com/office/drawing/2014/main" id="{C319E249-48A9-70AD-7ACE-23CF9ABF613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#4 – Ring Resonator</a:t>
            </a:r>
          </a:p>
          <a:p>
            <a:pPr marL="12700">
              <a:spcBef>
                <a:spcPts val="100"/>
              </a:spcBef>
            </a:pPr>
            <a:r>
              <a:rPr lang="en-US" b="0" kern="0" spc="-5" dirty="0">
                <a:latin typeface="+mj-lt"/>
                <a:cs typeface="Lucida Sans"/>
              </a:rPr>
              <a:t>Single ring resonator – most simple case Constant coupler K (no wavelength variation)</a:t>
            </a:r>
          </a:p>
        </p:txBody>
      </p:sp>
    </p:spTree>
    <p:extLst>
      <p:ext uri="{BB962C8B-B14F-4D97-AF65-F5344CB8AC3E}">
        <p14:creationId xmlns:p14="http://schemas.microsoft.com/office/powerpoint/2010/main" val="543184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A2DF-810F-7BDA-CFF3-0CFEE760301A}"/>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4915C280-A84A-95DA-94D2-FE062C8ED61F}"/>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E919F9EF-02D5-71FC-C2BC-F8EC5B26723E}"/>
              </a:ext>
            </a:extLst>
          </p:cNvPr>
          <p:cNvSpPr>
            <a:spLocks noGrp="1"/>
          </p:cNvSpPr>
          <p:nvPr>
            <p:ph type="sldNum" sz="quarter" idx="7"/>
          </p:nvPr>
        </p:nvSpPr>
        <p:spPr/>
        <p:txBody>
          <a:bodyPr/>
          <a:lstStyle/>
          <a:p>
            <a:fld id="{C2F52289-4012-4053-9770-FE82CEB9514F}" type="slidenum">
              <a:rPr lang="en-US" smtClean="0"/>
              <a:pPr/>
              <a:t>8</a:t>
            </a:fld>
            <a:endParaRPr lang="en-US" dirty="0"/>
          </a:p>
        </p:txBody>
      </p:sp>
      <p:sp>
        <p:nvSpPr>
          <p:cNvPr id="8" name="CuadroTexto 7">
            <a:extLst>
              <a:ext uri="{FF2B5EF4-FFF2-40B4-BE49-F238E27FC236}">
                <a16:creationId xmlns:a16="http://schemas.microsoft.com/office/drawing/2014/main" id="{3BC6D2B9-07F5-E2FA-C9AD-029B63B098DA}"/>
              </a:ext>
            </a:extLst>
          </p:cNvPr>
          <p:cNvSpPr txBox="1"/>
          <p:nvPr/>
        </p:nvSpPr>
        <p:spPr>
          <a:xfrm>
            <a:off x="611029" y="4860335"/>
            <a:ext cx="11199530"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describer the transfer function. How’s the dependence on the coupler coefficient? Calculate the Extinction Ratio. How would you achieve critical coupling for the latter design? Justify your answers.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a:t>
            </a:r>
          </a:p>
        </p:txBody>
      </p:sp>
      <p:sp>
        <p:nvSpPr>
          <p:cNvPr id="3" name="Rectángulo 2">
            <a:extLst>
              <a:ext uri="{FF2B5EF4-FFF2-40B4-BE49-F238E27FC236}">
                <a16:creationId xmlns:a16="http://schemas.microsoft.com/office/drawing/2014/main" id="{E54DA3AC-DFE0-BB51-7C71-7CD9087359D0}"/>
              </a:ext>
            </a:extLst>
          </p:cNvPr>
          <p:cNvSpPr/>
          <p:nvPr/>
        </p:nvSpPr>
        <p:spPr>
          <a:xfrm>
            <a:off x="8610601" y="1418373"/>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200" b="1" dirty="0">
                <a:solidFill>
                  <a:schemeClr val="tx1"/>
                </a:solidFill>
                <a:latin typeface="Arial" panose="020B0604020202020204" pitchFamily="34" charset="0"/>
                <a:cs typeface="Arial" panose="020B0604020202020204" pitchFamily="34" charset="0"/>
              </a:rPr>
              <a:t>Hints:</a:t>
            </a:r>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r>
              <a:rPr lang="en-US" sz="1200" dirty="0">
                <a:solidFill>
                  <a:schemeClr val="tx1"/>
                </a:solidFill>
                <a:latin typeface="Arial" panose="020B0604020202020204" pitchFamily="34" charset="0"/>
                <a:cs typeface="Arial" panose="020B0604020202020204" pitchFamily="34" charset="0"/>
              </a:rPr>
              <a:t>Design the perimeter for a FSR = 15 nm. </a:t>
            </a:r>
          </a:p>
          <a:p>
            <a:pPr algn="just"/>
            <a:endParaRPr lang="en-US" sz="1200" dirty="0">
              <a:solidFill>
                <a:schemeClr val="tx1"/>
              </a:solidFill>
              <a:latin typeface="Arial" panose="020B0604020202020204" pitchFamily="34" charset="0"/>
              <a:cs typeface="Arial" panose="020B0604020202020204" pitchFamily="34" charset="0"/>
            </a:endParaRPr>
          </a:p>
          <a:p>
            <a:pPr algn="just"/>
            <a:r>
              <a:rPr lang="en-US" sz="1200" dirty="0">
                <a:solidFill>
                  <a:schemeClr val="tx1"/>
                </a:solidFill>
                <a:latin typeface="Arial" panose="020B0604020202020204" pitchFamily="34" charset="0"/>
                <a:cs typeface="Arial" panose="020B0604020202020204" pitchFamily="34" charset="0"/>
              </a:rPr>
              <a:t>Use equations given in class that relate FSR and perimeter.</a:t>
            </a: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p:txBody>
      </p:sp>
      <p:sp>
        <p:nvSpPr>
          <p:cNvPr id="10" name="Rectángulo 9">
            <a:extLst>
              <a:ext uri="{FF2B5EF4-FFF2-40B4-BE49-F238E27FC236}">
                <a16:creationId xmlns:a16="http://schemas.microsoft.com/office/drawing/2014/main" id="{82011495-88D4-8787-6CB7-704897D84CF9}"/>
              </a:ext>
            </a:extLst>
          </p:cNvPr>
          <p:cNvSpPr/>
          <p:nvPr/>
        </p:nvSpPr>
        <p:spPr>
          <a:xfrm>
            <a:off x="61103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3BD35A6E-6540-9761-4128-0E43122290D4}"/>
              </a:ext>
            </a:extLst>
          </p:cNvPr>
          <p:cNvSpPr txBox="1"/>
          <p:nvPr/>
        </p:nvSpPr>
        <p:spPr>
          <a:xfrm>
            <a:off x="5536543" y="2494307"/>
            <a:ext cx="2033313" cy="1323439"/>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err="1"/>
              <a:t>Logaritmic</a:t>
            </a:r>
            <a:r>
              <a:rPr lang="es-ES" sz="2000" dirty="0"/>
              <a:t> </a:t>
            </a:r>
            <a:r>
              <a:rPr lang="es-ES" sz="2000" dirty="0" err="1"/>
              <a:t>units</a:t>
            </a:r>
            <a:endParaRPr lang="en-US" sz="2000" dirty="0"/>
          </a:p>
        </p:txBody>
      </p:sp>
      <p:sp>
        <p:nvSpPr>
          <p:cNvPr id="13" name="Rectángulo 12">
            <a:extLst>
              <a:ext uri="{FF2B5EF4-FFF2-40B4-BE49-F238E27FC236}">
                <a16:creationId xmlns:a16="http://schemas.microsoft.com/office/drawing/2014/main" id="{03798D61-1E16-8473-BDCE-1D97F95EF7BE}"/>
              </a:ext>
            </a:extLst>
          </p:cNvPr>
          <p:cNvSpPr/>
          <p:nvPr/>
        </p:nvSpPr>
        <p:spPr>
          <a:xfrm>
            <a:off x="464820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uadroTexto 15">
            <a:extLst>
              <a:ext uri="{FF2B5EF4-FFF2-40B4-BE49-F238E27FC236}">
                <a16:creationId xmlns:a16="http://schemas.microsoft.com/office/drawing/2014/main" id="{B49B3613-E785-3FCB-DA8D-2B43EB104C5D}"/>
              </a:ext>
            </a:extLst>
          </p:cNvPr>
          <p:cNvSpPr txBox="1"/>
          <p:nvPr/>
        </p:nvSpPr>
        <p:spPr>
          <a:xfrm>
            <a:off x="1499379" y="2478160"/>
            <a:ext cx="2033313" cy="1323439"/>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n-US" sz="2000" dirty="0"/>
          </a:p>
        </p:txBody>
      </p:sp>
      <p:pic>
        <p:nvPicPr>
          <p:cNvPr id="11" name="Gráfico 10">
            <a:extLst>
              <a:ext uri="{FF2B5EF4-FFF2-40B4-BE49-F238E27FC236}">
                <a16:creationId xmlns:a16="http://schemas.microsoft.com/office/drawing/2014/main" id="{64B3EEA8-5B6A-F628-0B9C-42450CEE9BE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4" name="object 16">
            <a:extLst>
              <a:ext uri="{FF2B5EF4-FFF2-40B4-BE49-F238E27FC236}">
                <a16:creationId xmlns:a16="http://schemas.microsoft.com/office/drawing/2014/main" id="{4E9E05B5-9445-DD50-60E9-03B04ED264D4}"/>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#5 – Ring resonator design</a:t>
            </a:r>
          </a:p>
          <a:p>
            <a:pPr marL="12700">
              <a:spcBef>
                <a:spcPts val="100"/>
              </a:spcBef>
            </a:pPr>
            <a:r>
              <a:rPr lang="en-US" b="0" kern="0" spc="-5" dirty="0">
                <a:latin typeface="+mj-lt"/>
                <a:cs typeface="Lucida Sans"/>
              </a:rPr>
              <a:t>Design the perimeter for a FSR = 15 nm. </a:t>
            </a:r>
          </a:p>
        </p:txBody>
      </p:sp>
    </p:spTree>
    <p:extLst>
      <p:ext uri="{BB962C8B-B14F-4D97-AF65-F5344CB8AC3E}">
        <p14:creationId xmlns:p14="http://schemas.microsoft.com/office/powerpoint/2010/main" val="2915989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9</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646331"/>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Try to classify the resonances, in which case are you close to critical coupling? Why?</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ángulo 13">
            <a:extLst>
              <a:ext uri="{FF2B5EF4-FFF2-40B4-BE49-F238E27FC236}">
                <a16:creationId xmlns:a16="http://schemas.microsoft.com/office/drawing/2014/main" id="{6AA857E7-5C39-DCE1-10B5-40300FCF4B26}"/>
              </a:ext>
            </a:extLst>
          </p:cNvPr>
          <p:cNvSpPr/>
          <p:nvPr/>
        </p:nvSpPr>
        <p:spPr>
          <a:xfrm>
            <a:off x="3277315" y="1419036"/>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54CF28B4-1346-F41D-2CD8-EA104ABBFB98}"/>
              </a:ext>
            </a:extLst>
          </p:cNvPr>
          <p:cNvSpPr txBox="1"/>
          <p:nvPr/>
        </p:nvSpPr>
        <p:spPr>
          <a:xfrm>
            <a:off x="863650" y="2101891"/>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a:t>K=</a:t>
            </a:r>
            <a:endParaRPr lang="en-US" sz="2000" dirty="0"/>
          </a:p>
        </p:txBody>
      </p:sp>
      <p:sp>
        <p:nvSpPr>
          <p:cNvPr id="9" name="Rectángulo 8">
            <a:extLst>
              <a:ext uri="{FF2B5EF4-FFF2-40B4-BE49-F238E27FC236}">
                <a16:creationId xmlns:a16="http://schemas.microsoft.com/office/drawing/2014/main" id="{11F0F5FC-B571-59FC-7890-3105A6A843BB}"/>
              </a:ext>
            </a:extLst>
          </p:cNvPr>
          <p:cNvSpPr/>
          <p:nvPr/>
        </p:nvSpPr>
        <p:spPr>
          <a:xfrm>
            <a:off x="5943600"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adroTexto 9">
            <a:extLst>
              <a:ext uri="{FF2B5EF4-FFF2-40B4-BE49-F238E27FC236}">
                <a16:creationId xmlns:a16="http://schemas.microsoft.com/office/drawing/2014/main" id="{3146642F-220B-8F6A-59A8-2D128DDF3BEB}"/>
              </a:ext>
            </a:extLst>
          </p:cNvPr>
          <p:cNvSpPr txBox="1"/>
          <p:nvPr/>
        </p:nvSpPr>
        <p:spPr>
          <a:xfrm>
            <a:off x="3529935" y="2104638"/>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a:t>K=</a:t>
            </a:r>
            <a:endParaRPr lang="en-US" sz="2000" dirty="0"/>
          </a:p>
        </p:txBody>
      </p:sp>
      <p:sp>
        <p:nvSpPr>
          <p:cNvPr id="13" name="CuadroTexto 12">
            <a:extLst>
              <a:ext uri="{FF2B5EF4-FFF2-40B4-BE49-F238E27FC236}">
                <a16:creationId xmlns:a16="http://schemas.microsoft.com/office/drawing/2014/main" id="{057C499E-829F-FB11-9128-843C937CB822}"/>
              </a:ext>
            </a:extLst>
          </p:cNvPr>
          <p:cNvSpPr txBox="1"/>
          <p:nvPr/>
        </p:nvSpPr>
        <p:spPr>
          <a:xfrm>
            <a:off x="6195187" y="2101891"/>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a:t>K=</a:t>
            </a:r>
            <a:endParaRPr lang="en-US" sz="2000" dirty="0"/>
          </a:p>
        </p:txBody>
      </p:sp>
      <p:sp>
        <p:nvSpPr>
          <p:cNvPr id="12" name="CuadroTexto 11">
            <a:extLst>
              <a:ext uri="{FF2B5EF4-FFF2-40B4-BE49-F238E27FC236}">
                <a16:creationId xmlns:a16="http://schemas.microsoft.com/office/drawing/2014/main" id="{4E78CC89-1377-28A4-024D-1B017D551FC5}"/>
              </a:ext>
            </a:extLst>
          </p:cNvPr>
          <p:cNvSpPr txBox="1"/>
          <p:nvPr/>
        </p:nvSpPr>
        <p:spPr>
          <a:xfrm>
            <a:off x="9869875" y="2871332"/>
            <a:ext cx="360996" cy="400110"/>
          </a:xfrm>
          <a:prstGeom prst="rect">
            <a:avLst/>
          </a:prstGeom>
          <a:noFill/>
        </p:spPr>
        <p:txBody>
          <a:bodyPr wrap="none" rtlCol="0">
            <a:spAutoFit/>
          </a:bodyPr>
          <a:lstStyle/>
          <a:p>
            <a:pPr algn="ctr"/>
            <a:r>
              <a:rPr lang="es-ES" sz="2000" dirty="0"/>
              <a:t>…</a:t>
            </a:r>
            <a:endParaRPr lang="en-US" sz="2000" dirty="0"/>
          </a:p>
        </p:txBody>
      </p:sp>
      <p:pic>
        <p:nvPicPr>
          <p:cNvPr id="3" name="Gráfico 2">
            <a:extLst>
              <a:ext uri="{FF2B5EF4-FFF2-40B4-BE49-F238E27FC236}">
                <a16:creationId xmlns:a16="http://schemas.microsoft.com/office/drawing/2014/main" id="{0B245A9E-6C9A-F3A8-E4B7-66158012641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6" name="object 16">
            <a:extLst>
              <a:ext uri="{FF2B5EF4-FFF2-40B4-BE49-F238E27FC236}">
                <a16:creationId xmlns:a16="http://schemas.microsoft.com/office/drawing/2014/main" id="{8266F13B-05F1-81DE-B638-66D10EEB9FA2}"/>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#6a – Effect of K </a:t>
            </a:r>
          </a:p>
          <a:p>
            <a:pPr marL="12700">
              <a:spcBef>
                <a:spcPts val="100"/>
              </a:spcBef>
            </a:pPr>
            <a:r>
              <a:rPr lang="en-US" b="0" kern="0" spc="-5" dirty="0">
                <a:latin typeface="+mj-lt"/>
                <a:cs typeface="Lucida Sans"/>
              </a:rPr>
              <a:t>Change K value between 0.1 and 0.9 in steps of 0.1</a:t>
            </a:r>
          </a:p>
        </p:txBody>
      </p:sp>
    </p:spTree>
    <p:extLst>
      <p:ext uri="{BB962C8B-B14F-4D97-AF65-F5344CB8AC3E}">
        <p14:creationId xmlns:p14="http://schemas.microsoft.com/office/powerpoint/2010/main" val="1931625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10</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830997"/>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Try to classify the resonances, in which case are you close to critical coupling? Why?</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ángulo 13">
            <a:extLst>
              <a:ext uri="{FF2B5EF4-FFF2-40B4-BE49-F238E27FC236}">
                <a16:creationId xmlns:a16="http://schemas.microsoft.com/office/drawing/2014/main" id="{6AA857E7-5C39-DCE1-10B5-40300FCF4B26}"/>
              </a:ext>
            </a:extLst>
          </p:cNvPr>
          <p:cNvSpPr/>
          <p:nvPr/>
        </p:nvSpPr>
        <p:spPr>
          <a:xfrm>
            <a:off x="3277315" y="1419036"/>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54CF28B4-1346-F41D-2CD8-EA104ABBFB98}"/>
              </a:ext>
            </a:extLst>
          </p:cNvPr>
          <p:cNvSpPr txBox="1"/>
          <p:nvPr/>
        </p:nvSpPr>
        <p:spPr>
          <a:xfrm>
            <a:off x="863650" y="2101891"/>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err="1"/>
              <a:t>alpha</a:t>
            </a:r>
            <a:r>
              <a:rPr lang="es-ES" sz="2000" dirty="0"/>
              <a:t>=0 dB/cm</a:t>
            </a:r>
            <a:endParaRPr lang="en-US" sz="2000" dirty="0"/>
          </a:p>
        </p:txBody>
      </p:sp>
      <p:sp>
        <p:nvSpPr>
          <p:cNvPr id="9" name="Rectángulo 8">
            <a:extLst>
              <a:ext uri="{FF2B5EF4-FFF2-40B4-BE49-F238E27FC236}">
                <a16:creationId xmlns:a16="http://schemas.microsoft.com/office/drawing/2014/main" id="{11F0F5FC-B571-59FC-7890-3105A6A843BB}"/>
              </a:ext>
            </a:extLst>
          </p:cNvPr>
          <p:cNvSpPr/>
          <p:nvPr/>
        </p:nvSpPr>
        <p:spPr>
          <a:xfrm>
            <a:off x="5943600"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adroTexto 9">
            <a:extLst>
              <a:ext uri="{FF2B5EF4-FFF2-40B4-BE49-F238E27FC236}">
                <a16:creationId xmlns:a16="http://schemas.microsoft.com/office/drawing/2014/main" id="{3146642F-220B-8F6A-59A8-2D128DDF3BEB}"/>
              </a:ext>
            </a:extLst>
          </p:cNvPr>
          <p:cNvSpPr txBox="1"/>
          <p:nvPr/>
        </p:nvSpPr>
        <p:spPr>
          <a:xfrm>
            <a:off x="3529935" y="2104638"/>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err="1"/>
              <a:t>alpha</a:t>
            </a:r>
            <a:r>
              <a:rPr lang="es-ES" sz="2000" dirty="0"/>
              <a:t>=1 dB/cm</a:t>
            </a:r>
            <a:endParaRPr lang="en-US" sz="2000" dirty="0"/>
          </a:p>
        </p:txBody>
      </p:sp>
      <p:sp>
        <p:nvSpPr>
          <p:cNvPr id="13" name="CuadroTexto 12">
            <a:extLst>
              <a:ext uri="{FF2B5EF4-FFF2-40B4-BE49-F238E27FC236}">
                <a16:creationId xmlns:a16="http://schemas.microsoft.com/office/drawing/2014/main" id="{057C499E-829F-FB11-9128-843C937CB822}"/>
              </a:ext>
            </a:extLst>
          </p:cNvPr>
          <p:cNvSpPr txBox="1"/>
          <p:nvPr/>
        </p:nvSpPr>
        <p:spPr>
          <a:xfrm>
            <a:off x="6195187" y="2101891"/>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err="1"/>
              <a:t>alpha</a:t>
            </a:r>
            <a:r>
              <a:rPr lang="es-ES" sz="2000" dirty="0"/>
              <a:t>=2 dB/cm</a:t>
            </a:r>
            <a:endParaRPr lang="en-US" sz="2000" dirty="0"/>
          </a:p>
        </p:txBody>
      </p:sp>
      <p:sp>
        <p:nvSpPr>
          <p:cNvPr id="12" name="Rectángulo 11">
            <a:extLst>
              <a:ext uri="{FF2B5EF4-FFF2-40B4-BE49-F238E27FC236}">
                <a16:creationId xmlns:a16="http://schemas.microsoft.com/office/drawing/2014/main" id="{D9D5941A-D9F5-22E7-7E85-0D04C2B214EC}"/>
              </a:ext>
            </a:extLst>
          </p:cNvPr>
          <p:cNvSpPr/>
          <p:nvPr/>
        </p:nvSpPr>
        <p:spPr>
          <a:xfrm>
            <a:off x="8609885"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uadroTexto 15">
            <a:extLst>
              <a:ext uri="{FF2B5EF4-FFF2-40B4-BE49-F238E27FC236}">
                <a16:creationId xmlns:a16="http://schemas.microsoft.com/office/drawing/2014/main" id="{4A6C8490-F65B-32C9-44E8-9A1A1A1B1769}"/>
              </a:ext>
            </a:extLst>
          </p:cNvPr>
          <p:cNvSpPr txBox="1"/>
          <p:nvPr/>
        </p:nvSpPr>
        <p:spPr>
          <a:xfrm>
            <a:off x="8861472" y="2101891"/>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err="1"/>
              <a:t>alpha</a:t>
            </a:r>
            <a:r>
              <a:rPr lang="es-ES" sz="2000" dirty="0"/>
              <a:t>=2 dB/cm</a:t>
            </a:r>
            <a:endParaRPr lang="en-US" sz="2000" dirty="0"/>
          </a:p>
        </p:txBody>
      </p:sp>
      <p:pic>
        <p:nvPicPr>
          <p:cNvPr id="17" name="Gráfico 16">
            <a:extLst>
              <a:ext uri="{FF2B5EF4-FFF2-40B4-BE49-F238E27FC236}">
                <a16:creationId xmlns:a16="http://schemas.microsoft.com/office/drawing/2014/main" id="{16D15CB1-2EB9-A3F2-8611-C524CCD1CAE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8" name="object 16">
            <a:extLst>
              <a:ext uri="{FF2B5EF4-FFF2-40B4-BE49-F238E27FC236}">
                <a16:creationId xmlns:a16="http://schemas.microsoft.com/office/drawing/2014/main" id="{989133D6-A9B3-EFEA-2703-51A6BDA0A885}"/>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#6b – E</a:t>
            </a:r>
            <a:r>
              <a:rPr lang="en-US" sz="2500" dirty="0"/>
              <a:t>ffect of loss</a:t>
            </a:r>
            <a:endParaRPr lang="en-US" sz="2500" kern="0" dirty="0"/>
          </a:p>
          <a:p>
            <a:pPr marL="12700">
              <a:spcBef>
                <a:spcPts val="100"/>
              </a:spcBef>
            </a:pPr>
            <a:r>
              <a:rPr lang="en-US" b="0" kern="0" spc="-5" dirty="0">
                <a:latin typeface="+mj-lt"/>
                <a:cs typeface="Lucida Sans"/>
              </a:rPr>
              <a:t>Change losses value between 0 and 8 </a:t>
            </a:r>
            <a:r>
              <a:rPr lang="en-US" b="0" kern="0" spc="-5" dirty="0">
                <a:solidFill>
                  <a:srgbClr val="FF0000"/>
                </a:solidFill>
                <a:latin typeface="+mj-lt"/>
                <a:cs typeface="Lucida Sans"/>
              </a:rPr>
              <a:t>dB/cm </a:t>
            </a:r>
            <a:r>
              <a:rPr lang="en-US" b="0" kern="0" spc="-5" dirty="0">
                <a:latin typeface="+mj-lt"/>
                <a:cs typeface="Lucida Sans"/>
              </a:rPr>
              <a:t>in steps of 1</a:t>
            </a:r>
          </a:p>
        </p:txBody>
      </p:sp>
    </p:spTree>
    <p:extLst>
      <p:ext uri="{BB962C8B-B14F-4D97-AF65-F5344CB8AC3E}">
        <p14:creationId xmlns:p14="http://schemas.microsoft.com/office/powerpoint/2010/main" val="1461196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11</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845</TotalTime>
  <Words>835</Words>
  <Application>Microsoft Office PowerPoint</Application>
  <PresentationFormat>Panorámica</PresentationFormat>
  <Paragraphs>196</Paragraphs>
  <Slides>11</Slides>
  <Notes>2</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11</vt:i4>
      </vt:variant>
    </vt:vector>
  </HeadingPairs>
  <TitlesOfParts>
    <vt:vector size="18" baseType="lpstr">
      <vt:lpstr>Aptos</vt:lpstr>
      <vt:lpstr>Arial</vt:lpstr>
      <vt:lpstr>Calibri</vt:lpstr>
      <vt:lpstr>Consolas</vt:lpstr>
      <vt:lpstr>Lucida Sans</vt:lpstr>
      <vt:lpstr>Wingdings</vt:lpstr>
      <vt:lpstr>Office Theme</vt:lpstr>
      <vt:lpstr>Presentación de PowerPoint</vt:lpstr>
      <vt:lpstr>Instructions General</vt:lpstr>
      <vt:lpstr>Learning outcome #1a – Perfectly balanced MZI </vt:lpstr>
      <vt:lpstr>Learning outcome #1b – Unbalanced MZI </vt:lpstr>
      <vt:lpstr>Presentación de PowerPoint</vt:lpstr>
      <vt:lpstr>Presentación de PowerPoint</vt:lpstr>
      <vt:lpstr>Presentación de PowerPoint</vt:lpstr>
      <vt:lpstr>Presentación de PowerPoint</vt:lpstr>
      <vt:lpstr>Presentación de PowerPoint</vt:lpstr>
      <vt:lpstr>Presentación de PowerPoint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Christian Camilo Cano Vasquez</cp:lastModifiedBy>
  <cp:revision>12</cp:revision>
  <dcterms:created xsi:type="dcterms:W3CDTF">2025-01-27T02:46:57Z</dcterms:created>
  <dcterms:modified xsi:type="dcterms:W3CDTF">2026-10-21T19:24:19Z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